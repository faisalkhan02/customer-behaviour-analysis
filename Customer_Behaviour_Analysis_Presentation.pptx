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Revenue by Category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25-4FED-8C75-7F9F228802C2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25-4FED-8C75-7F9F228802C2}"/>
              </c:ext>
            </c:extLst>
          </c:dPt>
          <c:dPt>
            <c:idx val="2"/>
            <c:invertIfNegative val="0"/>
            <c:bubble3D val="0"/>
            <c:spPr>
              <a:solidFill>
                <a:srgbClr val="E573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25-4FED-8C75-7F9F228802C2}"/>
              </c:ext>
            </c:extLst>
          </c:dPt>
          <c:dPt>
            <c:idx val="3"/>
            <c:invertIfNegative val="0"/>
            <c:bubble3D val="0"/>
            <c:spPr>
              <a:solidFill>
                <a:srgbClr val="EF9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025-4FED-8C75-7F9F228802C2}"/>
              </c:ext>
            </c:extLst>
          </c:dPt>
          <c:dPt>
            <c:idx val="4"/>
            <c:invertIfNegative val="0"/>
            <c:bubble3D val="0"/>
            <c:spPr>
              <a:solidFill>
                <a:srgbClr val="FFCD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025-4FED-8C75-7F9F228802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Accessories</c:v>
                </c:pt>
                <c:pt idx="2">
                  <c:v>Clothing</c:v>
                </c:pt>
                <c:pt idx="3">
                  <c:v>Footwear</c:v>
                </c:pt>
                <c:pt idx="4">
                  <c:v>Outerwear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490000</c:v>
                </c:pt>
                <c:pt idx="1">
                  <c:v>190000</c:v>
                </c:pt>
                <c:pt idx="2">
                  <c:v>180000</c:v>
                </c:pt>
                <c:pt idx="3">
                  <c:v>110000</c:v>
                </c:pt>
                <c:pt idx="4">
                  <c:v>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025-4FED-8C75-7F9F228802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 dirty="0">
                <a:solidFill>
                  <a:srgbClr val="000000"/>
                </a:solidFill>
                <a:latin typeface="Arial"/>
              </a:rPr>
              <a:t>Revenue by Age Group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275-48F5-AFFA-22A7CC8E666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75-48F5-AFFA-22A7CC8E6667}"/>
              </c:ext>
            </c:extLst>
          </c:dPt>
          <c:dPt>
            <c:idx val="2"/>
            <c:bubble3D val="0"/>
            <c:spPr>
              <a:solidFill>
                <a:srgbClr val="E573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75-48F5-AFFA-22A7CC8E6667}"/>
              </c:ext>
            </c:extLst>
          </c:dPt>
          <c:dPt>
            <c:idx val="3"/>
            <c:bubble3D val="0"/>
            <c:spPr>
              <a:solidFill>
                <a:srgbClr val="2C3E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275-48F5-AFFA-22A7CC8E6667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275-48F5-AFFA-22A7CC8E6667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275-48F5-AFFA-22A7CC8E6667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A275-48F5-AFFA-22A7CC8E6667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A275-48F5-AFFA-22A7CC8E666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51+</c:v>
                </c:pt>
                <c:pt idx="1">
                  <c:v>36–50</c:v>
                </c:pt>
                <c:pt idx="2">
                  <c:v>26–35</c:v>
                </c:pt>
                <c:pt idx="3">
                  <c:v>18–25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399350</c:v>
                </c:pt>
                <c:pt idx="1">
                  <c:v>266710</c:v>
                </c:pt>
                <c:pt idx="2">
                  <c:v>177420</c:v>
                </c:pt>
                <c:pt idx="3">
                  <c:v>150710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275-48F5-AFFA-22A7CC8E66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C2E3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Revenue by Gender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3E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20-4FBC-9CC6-D3B2764A167D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20-4FBC-9CC6-D3B2764A167D}"/>
              </c:ext>
            </c:extLst>
          </c:dPt>
          <c:dPt>
            <c:idx val="2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20-4FBC-9CC6-D3B2764A167D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0420-4FBC-9CC6-D3B2764A167D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0420-4FBC-9CC6-D3B2764A167D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0420-4FBC-9CC6-D3B2764A167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390960</c:v>
                </c:pt>
                <c:pt idx="1">
                  <c:v>352060</c:v>
                </c:pt>
                <c:pt idx="2">
                  <c:v>251160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420-4FBC-9CC6-D3B2764A16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C2E3D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Discount Impact: Revenue vs Avg Spend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2C3E50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No Discount</c:v>
                </c:pt>
                <c:pt idx="1">
                  <c:v>With Discount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520000</c:v>
                </c:pt>
                <c:pt idx="1">
                  <c:v>474000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56-4B9A-A4E0-FE894ADAB5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Spend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No Discount</c:v>
                </c:pt>
                <c:pt idx="1">
                  <c:v>With Discount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202</c:v>
                </c:pt>
                <c:pt idx="1">
                  <c:v>195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56-4B9A-A4E0-FE894ADAB5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00000"/>
                </a:solidFill>
                <a:latin typeface="Arial"/>
              </a:rPr>
              <a:t>Orders by Shipping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68B-4DA0-B1A5-CEB40CF73F18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8B-4DA0-B1A5-CEB40CF73F18}"/>
              </c:ext>
            </c:extLst>
          </c:dPt>
          <c:dPt>
            <c:idx val="2"/>
            <c:invertIfNegative val="0"/>
            <c:bubble3D val="0"/>
            <c:spPr>
              <a:solidFill>
                <a:srgbClr val="2C3E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8B-4DA0-B1A5-CEB40CF73F18}"/>
              </c:ext>
            </c:extLst>
          </c:dPt>
          <c:dPt>
            <c:idx val="3"/>
            <c:invertIfNegative val="0"/>
            <c:bubble3D val="0"/>
            <c:spPr>
              <a:solidFill>
                <a:srgbClr val="7F8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8B-4DA0-B1A5-CEB40CF73F18}"/>
              </c:ext>
            </c:extLst>
          </c:dPt>
          <c:dPt>
            <c:idx val="4"/>
            <c:invertIfNegative val="0"/>
            <c:bubble3D val="0"/>
            <c:spPr>
              <a:solidFill>
                <a:srgbClr val="AEB6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68B-4DA0-B1A5-CEB40CF73F18}"/>
              </c:ext>
            </c:extLst>
          </c:dPt>
          <c:dPt>
            <c:idx val="5"/>
            <c:invertIfNegative val="0"/>
            <c:bubble3D val="0"/>
            <c:spPr>
              <a:solidFill>
                <a:srgbClr val="D5DB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68B-4DA0-B1A5-CEB40CF73F1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Standard</c:v>
                </c:pt>
                <c:pt idx="1">
                  <c:v>Express</c:v>
                </c:pt>
                <c:pt idx="2">
                  <c:v>Free Ship.</c:v>
                </c:pt>
                <c:pt idx="3">
                  <c:v>Store Pickup</c:v>
                </c:pt>
                <c:pt idx="4">
                  <c:v>Next Day</c:v>
                </c:pt>
                <c:pt idx="5">
                  <c:v>2-Day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1201</c:v>
                </c:pt>
                <c:pt idx="1">
                  <c:v>1199</c:v>
                </c:pt>
                <c:pt idx="2">
                  <c:v>675</c:v>
                </c:pt>
                <c:pt idx="3">
                  <c:v>650</c:v>
                </c:pt>
                <c:pt idx="4">
                  <c:v>648</c:v>
                </c:pt>
                <c:pt idx="5">
                  <c:v>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68B-4DA0-B1A5-CEB40CF73F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10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Multi-Tool Data Analytics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3246120"/>
            <a:ext cx="2560320" cy="128016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005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3246120"/>
            <a:ext cx="2560320" cy="128016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46120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4005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3246120"/>
            <a:ext cx="2560320" cy="1280160"/>
          </a:xfrm>
          <a:prstGeom prst="rect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80760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4005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7360920" y="1525345"/>
            <a:ext cx="1256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IN" sz="1400" b="1" dirty="0">
              <a:solidFill>
                <a:srgbClr val="C039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60920" y="1717482"/>
            <a:ext cx="1712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Faisal Khan</a:t>
            </a:r>
            <a:endParaRPr lang="en-IN" sz="2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0292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353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Statement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75104"/>
            <a:ext cx="50292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7510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1396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61488"/>
            <a:ext cx="50292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6148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Python: EDA &amp; Cleaning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47872"/>
            <a:ext cx="50292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478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7124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SQL: Business Queries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1188720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1188720"/>
            <a:ext cx="50292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188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1353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Power BI Dashboard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1975104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1975104"/>
            <a:ext cx="50292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97510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0" y="21396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2761488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2761488"/>
            <a:ext cx="50292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76148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2926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Statement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retail company understand customer purchasing behaviour to increase revenue, improve</a:t>
            </a:r>
            <a:endParaRPr lang="en-US" sz="1250" dirty="0"/>
          </a:p>
          <a:p>
            <a:pPr marL="0" indent="0" algn="l">
              <a:buNone/>
            </a:pPr>
            <a:r>
              <a:rPr lang="en-US" sz="12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retention, and optimise marketing strategies?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697480" cy="1115568"/>
          </a:xfrm>
          <a:prstGeom prst="rect">
            <a:avLst/>
          </a:prstGeom>
          <a:solidFill>
            <a:srgbClr val="22313F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269748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2066544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2104" y="202996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Customer Retention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48056" y="2450592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not returning after first purchase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1920240"/>
            <a:ext cx="2697480" cy="1115568"/>
          </a:xfrm>
          <a:prstGeom prst="rect">
            <a:avLst/>
          </a:prstGeom>
          <a:solidFill>
            <a:srgbClr val="22313F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920240"/>
            <a:ext cx="269748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206654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66744" y="202996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Gaps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282696" y="2450592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which products drive volume vs revenue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989320" y="1920240"/>
            <a:ext cx="2697480" cy="1115568"/>
          </a:xfrm>
          <a:prstGeom prst="rect">
            <a:avLst/>
          </a:prstGeom>
          <a:solidFill>
            <a:srgbClr val="22313F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89320" y="1920240"/>
            <a:ext cx="269748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206654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01384" y="202996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Segmentation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17336" y="2450592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New vs Returning vs Loyal view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1005840" y="3246120"/>
            <a:ext cx="3657600" cy="1115568"/>
          </a:xfrm>
          <a:prstGeom prst="rect">
            <a:avLst/>
          </a:prstGeom>
          <a:solidFill>
            <a:srgbClr val="22313F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5840" y="3246120"/>
            <a:ext cx="365760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856" y="339242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335584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Variation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133856" y="3776472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drops sharply in certain seasons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846320" y="3246120"/>
            <a:ext cx="3657600" cy="1115568"/>
          </a:xfrm>
          <a:prstGeom prst="rect">
            <a:avLst/>
          </a:prstGeom>
          <a:solidFill>
            <a:srgbClr val="22313F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846320" y="3246120"/>
            <a:ext cx="365760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4336" y="3392424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58384" y="335584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Behaviour Insights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974336" y="3776472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preferred payment channels by segment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691640" cy="91440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1615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2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84832" y="1143000"/>
            <a:ext cx="1691640" cy="91440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21615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084832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95344" y="1143000"/>
            <a:ext cx="1691640" cy="91440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95344" y="121615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895344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05856" y="1143000"/>
            <a:ext cx="1691640" cy="91440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05856" y="121615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705856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16368" y="1143000"/>
            <a:ext cx="1353312" cy="914400"/>
          </a:xfrm>
          <a:prstGeom prst="rect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16368" y="121615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516368" y="16916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31720"/>
            <a:ext cx="109728" cy="5212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23682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2606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953512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53512"/>
            <a:ext cx="109728" cy="52120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2990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32278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item_purchased, category, size, color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575304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575304"/>
            <a:ext cx="109728" cy="5212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3611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" y="38496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purchase_amount, discount_applied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197096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197096"/>
            <a:ext cx="109728" cy="5212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4233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" y="44714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previous_purchases, subscription_status, frequency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2331720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331720"/>
            <a:ext cx="109728" cy="5212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9" name="Text 37"/>
          <p:cNvSpPr/>
          <p:nvPr/>
        </p:nvSpPr>
        <p:spPr>
          <a:xfrm>
            <a:off x="4910328" y="23682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10328" y="2606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2953512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953512"/>
            <a:ext cx="109728" cy="5212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3" name="Text 41"/>
          <p:cNvSpPr/>
          <p:nvPr/>
        </p:nvSpPr>
        <p:spPr>
          <a:xfrm>
            <a:off x="4910328" y="2990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10328" y="32278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shipping_type, payment_method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3575304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575304"/>
            <a:ext cx="109728" cy="52120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7" name="Text 45"/>
          <p:cNvSpPr/>
          <p:nvPr/>
        </p:nvSpPr>
        <p:spPr>
          <a:xfrm>
            <a:off x="4910328" y="3611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10328" y="38496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review_rating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4197096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4197096"/>
            <a:ext cx="109728" cy="52120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51" name="Text 49"/>
          <p:cNvSpPr/>
          <p:nvPr/>
        </p:nvSpPr>
        <p:spPr>
          <a:xfrm>
            <a:off x="4910328" y="4233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10328" y="44714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02920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4904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Explore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5544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CSV into Pandas. Inspected shape, dtypes, stats via df.info(), df.describe(), df.isnull().sum()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404872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04872"/>
            <a:ext cx="502920" cy="11155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75234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2496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Correction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8163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items re-mapped to correct categories using a manual dictionary: Accessories, Clothing, Electronics, Footwear, Outerwear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666744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66744"/>
            <a:ext cx="502920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01421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37581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 Treatment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07822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category-specific strategy | Review Rating: item group mean | Previous Purchases: fill 0 | Purchase Amount: item mean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143000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143000"/>
            <a:ext cx="502920" cy="11155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4904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303520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15544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drop_duplicates(subset=['Customer ID'], keep='first') — one record per unique customer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404872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404872"/>
            <a:ext cx="502920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75234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303520" y="2496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Standardisation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8163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renamed to snake_case. 'purchase_amount_(usd)' renamed to 'purchase_amount' to remove special chars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666744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666744"/>
            <a:ext cx="502920" cy="11155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401421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303520" y="37581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Export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407822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DataFrame exported to MySQL via SQLAlchemy+PyMySQL as table 'shopping_data' — ready for SQL phase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SQL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Insight Queries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61872"/>
            <a:ext cx="384048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4996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5910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SUM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7922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— $490K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2618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261872"/>
            <a:ext cx="384048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4996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 on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15910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discount_applied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0" y="17922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don't raise avg spend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44768" y="12618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1261872"/>
            <a:ext cx="384048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14996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01968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01968" y="15910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SUM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01968" y="17922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39.3% · Female 35.4%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21762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176272"/>
            <a:ext cx="384048" cy="80467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" y="24140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Discount Users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2505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3232" y="27066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buyers despite discounts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21762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2176272"/>
            <a:ext cx="384048" cy="80467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0" y="24140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&amp; Bottom 5 Rated Items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2505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+ ORDER BY + LIMIT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0" y="27066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3.86 · Phone 2.94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44768" y="21762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44768" y="2176272"/>
            <a:ext cx="384048" cy="80467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8" name="Text 36"/>
          <p:cNvSpPr/>
          <p:nvPr/>
        </p:nvSpPr>
        <p:spPr>
          <a:xfrm>
            <a:off x="6144768" y="24140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01968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vs Express Shipping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01968" y="2505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+ GROUP BY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01968" y="27066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equal — 1201 vs 1199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6032" y="30906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3090672"/>
            <a:ext cx="384048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4" name="Text 42"/>
          <p:cNvSpPr/>
          <p:nvPr/>
        </p:nvSpPr>
        <p:spPr>
          <a:xfrm>
            <a:off x="256032" y="33284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3232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vs Non-Subscriber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3232" y="3419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SUM/AVG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3232" y="3621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spend significantly more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0" y="30906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0" y="3090672"/>
            <a:ext cx="384048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0" y="33284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Discount Products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0" y="3419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+ % calc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657600" y="3621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discount % (fixed)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44768" y="30906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44768" y="3090672"/>
            <a:ext cx="384048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6" name="Text 54"/>
          <p:cNvSpPr/>
          <p:nvPr/>
        </p:nvSpPr>
        <p:spPr>
          <a:xfrm>
            <a:off x="6144768" y="33284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601968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01968" y="3419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+ GROUP BY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01968" y="3621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Returning / Loyal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56032" y="40050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" y="4005072"/>
            <a:ext cx="384048" cy="80467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2" name="Text 60"/>
          <p:cNvSpPr/>
          <p:nvPr/>
        </p:nvSpPr>
        <p:spPr>
          <a:xfrm>
            <a:off x="256032" y="42428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13232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per Category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13232" y="4334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+ RANK() WINDOW fn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13232" y="45354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window function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200400" y="40050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0" y="4005072"/>
            <a:ext cx="384048" cy="80467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8" name="Text 66"/>
          <p:cNvSpPr/>
          <p:nvPr/>
        </p:nvSpPr>
        <p:spPr>
          <a:xfrm>
            <a:off x="3200400" y="42428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65760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&amp; Subscriptions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657600" y="4334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cross-tabulation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657600" y="45354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→ higher sub rate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144768" y="4005072"/>
            <a:ext cx="2834640" cy="804672"/>
          </a:xfrm>
          <a:prstGeom prst="rect">
            <a:avLst/>
          </a:prstGeom>
          <a:solidFill>
            <a:srgbClr val="1C2E3D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44768" y="4005072"/>
            <a:ext cx="384048" cy="80467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4" name="Text 72"/>
          <p:cNvSpPr/>
          <p:nvPr/>
        </p:nvSpPr>
        <p:spPr>
          <a:xfrm>
            <a:off x="6144768" y="42428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601968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601968" y="4334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bucketing + SUM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601968" y="45354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51+ group — 40.17%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POWER BI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dashboard · Slicers: Category, Gender, Discount, Subscription · RESET button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600200" cy="91440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463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1417320"/>
            <a:ext cx="1600200" cy="91440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463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93392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12464" y="1417320"/>
            <a:ext cx="1600200" cy="914400"/>
          </a:xfrm>
          <a:prstGeom prst="rect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463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12464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31536" y="1417320"/>
            <a:ext cx="1600200" cy="91440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31536" y="1463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994K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31536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50608" y="1417320"/>
            <a:ext cx="1600200" cy="91440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50608" y="1463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198.84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150608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4206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514600"/>
            <a:ext cx="420624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542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Revenue Overview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292608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— Electronics $490K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Season — Spring/Winter/Summer ~$240K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 — Male leads at 39.3%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 — 51+ contributes 40.2%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by Location combo chart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&amp; Payment Method breakdown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514600"/>
            <a:ext cx="4206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514600"/>
            <a:ext cx="4206240" cy="34747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542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Product &amp; Location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92608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Revenue — Headphones $138K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by Revenue — Jeans $7.55K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Rating — Gloves 3.86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by Rating — Phone 2.94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Locations — New York $143.9K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Locations — Kansas $3.44K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Insights</a:t>
            </a:r>
            <a:endParaRPr lang="en-US" sz="3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9728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170432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170432"/>
            <a:ext cx="91440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5742432" y="1207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$490K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42432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— highest revenue category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2103120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103120"/>
            <a:ext cx="91440" cy="80467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3" name="Text 10"/>
          <p:cNvSpPr/>
          <p:nvPr/>
        </p:nvSpPr>
        <p:spPr>
          <a:xfrm>
            <a:off x="5742432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40.17%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742432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the 51+ age group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3035808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035808"/>
            <a:ext cx="91440" cy="80467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4"/>
          <p:cNvSpPr/>
          <p:nvPr/>
        </p:nvSpPr>
        <p:spPr>
          <a:xfrm>
            <a:off x="5742432" y="3072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$0.24M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742432" y="3493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each — Spring, Winter &amp; Summer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3968496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77840" y="3968496"/>
            <a:ext cx="91440" cy="804672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21" name="Text 18"/>
          <p:cNvSpPr/>
          <p:nvPr/>
        </p:nvSpPr>
        <p:spPr>
          <a:xfrm>
            <a:off x="5742432" y="40050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$0.06M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742432" y="4425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season revenue — opportunity gap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Insights</a:t>
            </a:r>
            <a:endParaRPr lang="en-US" sz="3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97280"/>
          <a:ext cx="3840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297680" y="1097280"/>
          <a:ext cx="2926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406640" y="1280160"/>
            <a:ext cx="1508760" cy="914400"/>
          </a:xfrm>
          <a:prstGeom prst="rect">
            <a:avLst/>
          </a:prstGeom>
          <a:solidFill>
            <a:srgbClr val="22313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479792" y="135331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outspend non-subscribers in total &amp; average purchase amount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7406640" y="2359152"/>
            <a:ext cx="1508760" cy="914400"/>
          </a:xfrm>
          <a:prstGeom prst="rect">
            <a:avLst/>
          </a:prstGeom>
          <a:solidFill>
            <a:srgbClr val="22313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79792" y="243230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(&gt;5 purchases) are significantly more likely to subscribe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7406640" y="3438144"/>
            <a:ext cx="1508760" cy="914400"/>
          </a:xfrm>
          <a:prstGeom prst="rect">
            <a:avLst/>
          </a:prstGeom>
          <a:solidFill>
            <a:srgbClr val="22313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79792" y="3511296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York, LA &amp; Phoenix are the top 3 revenue-generating cities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&amp; Strategy Insights</a:t>
            </a:r>
            <a:endParaRPr lang="en-US" sz="3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9728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097280"/>
            <a:ext cx="33375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97280"/>
            <a:ext cx="333756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5687568" y="1143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Electronics Paradox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87568" y="150876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= highest revenue ($490K) + lowest rating (Phone: 2.94). High demand despite poor satisfaction is a retention risk.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2514600"/>
            <a:ext cx="33375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514600"/>
            <a:ext cx="3337560" cy="34747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3" name="Text 10"/>
          <p:cNvSpPr/>
          <p:nvPr/>
        </p:nvSpPr>
        <p:spPr>
          <a:xfrm>
            <a:off x="5687568" y="2560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Strategy Gap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87568" y="292608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do NOT increase avg spend. Customers with discounts spend ~the same as full-price. Discounts attract volume, not premium buyers.</a:t>
            </a:r>
            <a:endParaRPr lang="en-US" sz="950" dirty="0"/>
          </a:p>
        </p:txBody>
      </p:sp>
      <p:graphicFrame>
        <p:nvGraphicFramePr>
          <p:cNvPr id="15" name="Chart 1"/>
          <p:cNvGraphicFramePr/>
          <p:nvPr>
            <p:extLst>
              <p:ext uri="{D42A27DB-BD31-4B8C-83A1-F6EECF244321}">
                <p14:modId xmlns:p14="http://schemas.microsoft.com/office/powerpoint/2010/main" val="1979039129"/>
              </p:ext>
            </p:extLst>
          </p:nvPr>
        </p:nvGraphicFramePr>
        <p:xfrm>
          <a:off x="274320" y="3749040"/>
          <a:ext cx="502920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0292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075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197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Electronics Quality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90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= top revenue but lowest rated. Post-purchase feedback + quality audits needed to protect retention.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11096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11096"/>
            <a:ext cx="502920" cy="6583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0756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Fall Season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258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revenue is $0.06M vs $0.24M in other seasons. Launch targeted promotions and bundles in September–November.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79192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79192"/>
            <a:ext cx="50292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8437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734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Repeat Buyers → Subs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0266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subscribe more frequently. Launch a loyalty-to-subscription upsell campaign for this high-value segment.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47288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47288"/>
            <a:ext cx="502920" cy="6583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611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502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Geo-Focus: NY, LA, Phoenix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794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3 cities contribute ~$380K combined. Invest in localised paid marketing and geo-targeted offers for these markets.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215384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215384"/>
            <a:ext cx="50292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3799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4270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Discount Strategy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5628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don't increase avg spend. Replace blanket discounts with value-add offers: free shipping, bundles, or early access.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4540850"/>
            <a:ext cx="8979408" cy="6629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Analysis — Complete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423160"/>
            <a:ext cx="2103120" cy="960120"/>
          </a:xfrm>
          <a:prstGeom prst="rect">
            <a:avLst/>
          </a:prstGeom>
          <a:solidFill>
            <a:srgbClr val="22313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514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871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Data Cleaning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0" y="2423160"/>
            <a:ext cx="2103120" cy="960120"/>
          </a:xfrm>
          <a:prstGeom prst="rect">
            <a:avLst/>
          </a:prstGeom>
          <a:solidFill>
            <a:srgbClr val="22313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514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(SQL)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2871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Business Queries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2423160"/>
            <a:ext cx="2103120" cy="960120"/>
          </a:xfrm>
          <a:prstGeom prst="rect">
            <a:avLst/>
          </a:prstGeom>
          <a:solidFill>
            <a:srgbClr val="22313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514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871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Dashboard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984</Words>
  <Application>Microsoft Office PowerPoint</Application>
  <PresentationFormat>On-screen Show (16:9)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Behaviour Analysis</dc:title>
  <dc:subject>PptxGenJS Presentation</dc:subject>
  <dc:creator>PptxGenJS</dc:creator>
  <cp:lastModifiedBy>M J Akhtar</cp:lastModifiedBy>
  <cp:revision>4</cp:revision>
  <dcterms:created xsi:type="dcterms:W3CDTF">2026-05-06T23:39:08Z</dcterms:created>
  <dcterms:modified xsi:type="dcterms:W3CDTF">2026-05-16T18:07:10Z</dcterms:modified>
</cp:coreProperties>
</file>